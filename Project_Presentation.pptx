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72" r:id="rId1"/>
    <p:sldMasterId id="2147483684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3433425" cy="7556500"/>
  <p:notesSz cx="6858000" cy="9144000"/>
  <p:defaultTextStyle>
    <a:defPPr>
      <a:defRPr lang="pl-PL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80">
          <p15:clr>
            <a:srgbClr val="A4A3A4"/>
          </p15:clr>
        </p15:guide>
        <p15:guide id="2" pos="42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66" autoAdjust="0"/>
    <p:restoredTop sz="90929"/>
  </p:normalViewPr>
  <p:slideViewPr>
    <p:cSldViewPr>
      <p:cViewPr varScale="1">
        <p:scale>
          <a:sx n="92" d="100"/>
          <a:sy n="92" d="100"/>
        </p:scale>
        <p:origin x="108" y="402"/>
      </p:cViewPr>
      <p:guideLst>
        <p:guide orient="horz" pos="2380"/>
        <p:guide pos="42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0A65E63C-BD8B-002F-CC0D-2831363BB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4002D97-CD0A-4320-AC0B-8C21AECF9E2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l-PL" noProof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altLang="pl-PL" noProof="0">
                <a:sym typeface="Helvetica Neue" charset="0"/>
              </a:rPr>
              <a:t>Second level</a:t>
            </a:r>
          </a:p>
          <a:p>
            <a:pPr lvl="2"/>
            <a:r>
              <a:rPr lang="en-US" altLang="pl-PL" noProof="0">
                <a:sym typeface="Helvetica Neue" charset="0"/>
              </a:rPr>
              <a:t>Third level</a:t>
            </a:r>
          </a:p>
          <a:p>
            <a:pPr lvl="3"/>
            <a:r>
              <a:rPr lang="en-US" altLang="pl-PL" noProof="0">
                <a:sym typeface="Helvetica Neue" charset="0"/>
              </a:rPr>
              <a:t>Fourth level</a:t>
            </a:r>
          </a:p>
          <a:p>
            <a:pPr lvl="4"/>
            <a:r>
              <a:rPr lang="en-US" altLang="pl-PL" noProof="0">
                <a:sym typeface="Helvetica Neue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2286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4572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6858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9144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1034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178" y="1236678"/>
            <a:ext cx="10075069" cy="2630781"/>
          </a:xfrm>
        </p:spPr>
        <p:txBody>
          <a:bodyPr anchor="b"/>
          <a:lstStyle>
            <a:lvl1pPr algn="ctr">
              <a:defRPr sz="6611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178" y="3968912"/>
            <a:ext cx="10075069" cy="1824404"/>
          </a:xfrm>
        </p:spPr>
        <p:txBody>
          <a:bodyPr/>
          <a:lstStyle>
            <a:lvl1pPr marL="0" indent="0" algn="ctr">
              <a:buNone/>
              <a:defRPr sz="2644"/>
            </a:lvl1pPr>
            <a:lvl2pPr marL="503743" indent="0" algn="ctr">
              <a:buNone/>
              <a:defRPr sz="2204"/>
            </a:lvl2pPr>
            <a:lvl3pPr marL="1007486" indent="0" algn="ctr">
              <a:buNone/>
              <a:defRPr sz="1983"/>
            </a:lvl3pPr>
            <a:lvl4pPr marL="1511229" indent="0" algn="ctr">
              <a:buNone/>
              <a:defRPr sz="1763"/>
            </a:lvl4pPr>
            <a:lvl5pPr marL="2014972" indent="0" algn="ctr">
              <a:buNone/>
              <a:defRPr sz="1763"/>
            </a:lvl5pPr>
            <a:lvl6pPr marL="2518715" indent="0" algn="ctr">
              <a:buNone/>
              <a:defRPr sz="1763"/>
            </a:lvl6pPr>
            <a:lvl7pPr marL="3022458" indent="0" algn="ctr">
              <a:buNone/>
              <a:defRPr sz="1763"/>
            </a:lvl7pPr>
            <a:lvl8pPr marL="3526201" indent="0" algn="ctr">
              <a:buNone/>
              <a:defRPr sz="1763"/>
            </a:lvl8pPr>
            <a:lvl9pPr marL="4029944" indent="0" algn="ctr">
              <a:buNone/>
              <a:defRPr sz="1763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5D0A9-B716-51D2-6726-2C3623101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30B92F-A431-42CD-94B2-648545599D3B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928A4-C455-B4AF-6453-ED87E904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9EC0A-1E48-3F8F-317F-DEF2E5CA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D4BA29-DF6D-4B3A-A311-57C21000EC48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47631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5BD1E-6E44-EDB7-B7AD-08AAB0D6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7424F8-BF95-4E14-9CA8-D9B85B9D5736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780AA-C8D9-F712-9293-D5A7EE4B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F487A-DAB7-E422-FDC7-0743DAF85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735E3-5CC8-480E-9BB3-E0BE11707831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68971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551" y="1883878"/>
            <a:ext cx="11586329" cy="3143294"/>
          </a:xfrm>
        </p:spPr>
        <p:txBody>
          <a:bodyPr anchor="b"/>
          <a:lstStyle>
            <a:lvl1pPr>
              <a:defRPr sz="6611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551" y="5056909"/>
            <a:ext cx="11586329" cy="1652984"/>
          </a:xfrm>
        </p:spPr>
        <p:txBody>
          <a:bodyPr/>
          <a:lstStyle>
            <a:lvl1pPr marL="0" indent="0">
              <a:buNone/>
              <a:defRPr sz="2644">
                <a:solidFill>
                  <a:schemeClr val="tx1">
                    <a:tint val="75000"/>
                  </a:schemeClr>
                </a:solidFill>
              </a:defRPr>
            </a:lvl1pPr>
            <a:lvl2pPr marL="503743" indent="0">
              <a:buNone/>
              <a:defRPr sz="2204">
                <a:solidFill>
                  <a:schemeClr val="tx1">
                    <a:tint val="75000"/>
                  </a:schemeClr>
                </a:solidFill>
              </a:defRPr>
            </a:lvl2pPr>
            <a:lvl3pPr marL="1007486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3pPr>
            <a:lvl4pPr marL="151122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972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8715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245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620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9944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AA096-E729-A640-C99D-92AE0460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506C9-9CB7-47D4-B1A9-59039C7F58C0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31C9B-A01F-4149-80CB-349A3689E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7066C-2F8E-505F-568F-E38BF880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B3C61-5A4F-4C79-97F9-CDCBA1E796DF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113770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548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0671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276E953-A260-86CE-EC99-BBE23A1EF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74C4B6-3CA4-4D40-B892-2FF9510D13EF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A303917-CEF4-0223-038C-D7116D8DC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F5F82BA-FE7E-7A9D-FA90-529849FEF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0CEB4-CE93-4940-8640-27751549D06E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535124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402314"/>
            <a:ext cx="11586329" cy="146057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298" y="1852393"/>
            <a:ext cx="5682968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298" y="2760222"/>
            <a:ext cx="5682968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0672" y="1852393"/>
            <a:ext cx="5710955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0672" y="2760222"/>
            <a:ext cx="5710955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5FFF930-82F4-256A-DDAA-40F06E30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F5644-FBFE-49E1-A088-44AD8EFEAA87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34F6AE2-8887-EB88-5572-2F101D762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0BA3D6-D626-4BAA-B230-C3DBDAEF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9CD96-D8E2-4414-82EB-E73F8EBA5092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801726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94F33D6-4B0F-32BE-0337-E0E342923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12042D-DBC1-4092-98F5-7BD664AE4E3A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0D6F4E0-3744-1AF8-CF75-CFBA5409C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B776EF-BFE0-F7D1-BD3D-06839572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941C92-7BB5-4C98-B5F3-3E024165AE8C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69358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A087B0A-67E7-D18B-E6F2-3E5AB5E98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4ECD6-EDF6-4FF2-ACC2-C8DDD0C9520D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1246CAD-AD97-6DCF-50A2-52A3D42CB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2DEBC31-0B3B-C31B-52F3-5109635F2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6A1941-A3B8-4C5A-8A18-F5B2A6818175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05200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0956" y="1087996"/>
            <a:ext cx="6800671" cy="5370013"/>
          </a:xfrm>
        </p:spPr>
        <p:txBody>
          <a:bodyPr/>
          <a:lstStyle>
            <a:lvl1pPr>
              <a:defRPr sz="3526"/>
            </a:lvl1pPr>
            <a:lvl2pPr>
              <a:defRPr sz="3085"/>
            </a:lvl2pPr>
            <a:lvl3pPr>
              <a:defRPr sz="2644"/>
            </a:lvl3pPr>
            <a:lvl4pPr>
              <a:defRPr sz="2204"/>
            </a:lvl4pPr>
            <a:lvl5pPr>
              <a:defRPr sz="2204"/>
            </a:lvl5pPr>
            <a:lvl6pPr>
              <a:defRPr sz="2204"/>
            </a:lvl6pPr>
            <a:lvl7pPr>
              <a:defRPr sz="2204"/>
            </a:lvl7pPr>
            <a:lvl8pPr>
              <a:defRPr sz="2204"/>
            </a:lvl8pPr>
            <a:lvl9pPr>
              <a:defRPr sz="2204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8050F97-D354-FC27-7117-04995AA15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59E6A6-9029-4590-AA56-6E76B9623D1B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32EE0D7-B4AC-2CDB-5CD7-5115B07FB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3EF3A8-C9FD-2F2B-B1DC-D94513EEF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FA078D-8404-493A-9799-647024106EC6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096670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0956" y="1087996"/>
            <a:ext cx="6800671" cy="5370013"/>
          </a:xfrm>
        </p:spPr>
        <p:txBody>
          <a:bodyPr rtlCol="0">
            <a:normAutofit/>
          </a:bodyPr>
          <a:lstStyle>
            <a:lvl1pPr marL="0" indent="0">
              <a:buNone/>
              <a:defRPr sz="3526"/>
            </a:lvl1pPr>
            <a:lvl2pPr marL="503743" indent="0">
              <a:buNone/>
              <a:defRPr sz="3085"/>
            </a:lvl2pPr>
            <a:lvl3pPr marL="1007486" indent="0">
              <a:buNone/>
              <a:defRPr sz="2644"/>
            </a:lvl3pPr>
            <a:lvl4pPr marL="1511229" indent="0">
              <a:buNone/>
              <a:defRPr sz="2204"/>
            </a:lvl4pPr>
            <a:lvl5pPr marL="2014972" indent="0">
              <a:buNone/>
              <a:defRPr sz="2204"/>
            </a:lvl5pPr>
            <a:lvl6pPr marL="2518715" indent="0">
              <a:buNone/>
              <a:defRPr sz="2204"/>
            </a:lvl6pPr>
            <a:lvl7pPr marL="3022458" indent="0">
              <a:buNone/>
              <a:defRPr sz="2204"/>
            </a:lvl7pPr>
            <a:lvl8pPr marL="3526201" indent="0">
              <a:buNone/>
              <a:defRPr sz="2204"/>
            </a:lvl8pPr>
            <a:lvl9pPr marL="4029944" indent="0">
              <a:buNone/>
              <a:defRPr sz="2204"/>
            </a:lvl9pPr>
          </a:lstStyle>
          <a:p>
            <a:pPr lvl="0"/>
            <a:r>
              <a:rPr lang="pl-PL" noProof="0"/>
              <a:t>Kliknij ikonę, aby dodać obraz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1ECBC30-6FE7-741B-747E-80BA2A5E7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4996E9-BA03-4236-852F-31E18BB5B438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34ED0E3-A7BF-7B99-DAAA-F9ECA597A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BC202ED-E3D6-B3B8-C8AF-30E4A08FE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45FCEE-D9BB-4B83-9B77-EFC1453B317A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746861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12ACE-3426-8F49-B197-41DF19C96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AA1644-850B-4732-8076-A0EE5ECFC16C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32120-44B7-3355-2B2C-80987620D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FA409-D1B3-D775-52BA-544FF4AC6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075D8E-8A0B-4453-B917-D9E98A2BEF63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552000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3295" y="402314"/>
            <a:ext cx="2896582" cy="640378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548" y="402314"/>
            <a:ext cx="8521829" cy="640378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62D1F-1C30-3F5A-17F7-19B3A4110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F5846-FD24-4B84-A418-4FB0A59C8467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5AC07-7EC2-A9E4-827F-270F7E812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92033-0B07-EB96-9507-FFECDF8E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A3BE2D-346A-4ADD-8FBF-A26F42F82BDF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807578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178" y="1236678"/>
            <a:ext cx="10075069" cy="2630781"/>
          </a:xfrm>
        </p:spPr>
        <p:txBody>
          <a:bodyPr anchor="b"/>
          <a:lstStyle>
            <a:lvl1pPr algn="ctr">
              <a:defRPr sz="6611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178" y="3968912"/>
            <a:ext cx="10075069" cy="1824404"/>
          </a:xfrm>
        </p:spPr>
        <p:txBody>
          <a:bodyPr/>
          <a:lstStyle>
            <a:lvl1pPr marL="0" indent="0" algn="ctr">
              <a:buNone/>
              <a:defRPr sz="2644"/>
            </a:lvl1pPr>
            <a:lvl2pPr marL="503743" indent="0" algn="ctr">
              <a:buNone/>
              <a:defRPr sz="2204"/>
            </a:lvl2pPr>
            <a:lvl3pPr marL="1007486" indent="0" algn="ctr">
              <a:buNone/>
              <a:defRPr sz="1983"/>
            </a:lvl3pPr>
            <a:lvl4pPr marL="1511229" indent="0" algn="ctr">
              <a:buNone/>
              <a:defRPr sz="1763"/>
            </a:lvl4pPr>
            <a:lvl5pPr marL="2014972" indent="0" algn="ctr">
              <a:buNone/>
              <a:defRPr sz="1763"/>
            </a:lvl5pPr>
            <a:lvl6pPr marL="2518715" indent="0" algn="ctr">
              <a:buNone/>
              <a:defRPr sz="1763"/>
            </a:lvl6pPr>
            <a:lvl7pPr marL="3022458" indent="0" algn="ctr">
              <a:buNone/>
              <a:defRPr sz="1763"/>
            </a:lvl7pPr>
            <a:lvl8pPr marL="3526201" indent="0" algn="ctr">
              <a:buNone/>
              <a:defRPr sz="1763"/>
            </a:lvl8pPr>
            <a:lvl9pPr marL="4029944" indent="0" algn="ctr">
              <a:buNone/>
              <a:defRPr sz="1763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4890B-0E25-21E6-EC0F-B3F82D219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6685C7-3C70-48A2-B3B6-B53045DDF788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76B3C-A1F9-D492-2DDE-37772F393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23FDB-95B2-415C-0ECF-5A9033C0D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1E1C2C-62B3-4342-83D8-1D22C94D6A1E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239621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5A422-8F05-3C79-EF4E-2718BF282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E7923-50F9-453D-A072-26FC4814EF0A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CE264-3714-97F6-891C-B1F173CDE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A3770-8AEE-177C-9EFF-FF68108A5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E74507-4943-4CBC-8620-89460D8D09DC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550250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551" y="1883878"/>
            <a:ext cx="11586329" cy="3143294"/>
          </a:xfrm>
        </p:spPr>
        <p:txBody>
          <a:bodyPr anchor="b"/>
          <a:lstStyle>
            <a:lvl1pPr>
              <a:defRPr sz="6611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551" y="5056909"/>
            <a:ext cx="11586329" cy="1652984"/>
          </a:xfrm>
        </p:spPr>
        <p:txBody>
          <a:bodyPr/>
          <a:lstStyle>
            <a:lvl1pPr marL="0" indent="0">
              <a:buNone/>
              <a:defRPr sz="2644">
                <a:solidFill>
                  <a:schemeClr val="tx1">
                    <a:tint val="75000"/>
                  </a:schemeClr>
                </a:solidFill>
              </a:defRPr>
            </a:lvl1pPr>
            <a:lvl2pPr marL="503743" indent="0">
              <a:buNone/>
              <a:defRPr sz="2204">
                <a:solidFill>
                  <a:schemeClr val="tx1">
                    <a:tint val="75000"/>
                  </a:schemeClr>
                </a:solidFill>
              </a:defRPr>
            </a:lvl2pPr>
            <a:lvl3pPr marL="1007486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3pPr>
            <a:lvl4pPr marL="151122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972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8715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245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620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9944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FBA6E-A4B5-78B7-1127-CC5D3FD33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1582E9-CA28-4796-9F46-C764BAAEFA4B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9043B-8B51-C93E-CF11-63F8EBA22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F8D2B-7176-7CF2-2016-C2AA7594D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BB720C-2E37-4F94-8B67-27928B1E2ADD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0635698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548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0671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83F646B-01D7-63EE-EB04-8D37C6C71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FE717-0D36-4CAC-B337-BB43E758C82B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6FD06CB-7A55-16E1-D08C-AC496C425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A8DDE58-8A1F-3225-6963-3D13EEFF7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DF6D76-A2D0-4E50-A679-6DD17ECAFC95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2877578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402314"/>
            <a:ext cx="11586329" cy="146057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298" y="1852393"/>
            <a:ext cx="5682968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298" y="2760222"/>
            <a:ext cx="5682968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0672" y="1852393"/>
            <a:ext cx="5710955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0672" y="2760222"/>
            <a:ext cx="5710955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34FFB4A-61A9-6D94-351C-6B2A9FBEA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FB0EF-0127-47BC-A426-1BC70209EFAD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EF3A7BF-22CF-0005-3638-B0398CC22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44852E-AECA-C6AA-BB7C-7F55994A7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A2A9A-6F28-45AF-BCB1-3ACDA85270EB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3440161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CE58D0D-6920-21CC-3F3E-BBD754549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B1F91-CDCF-4C2B-A6EC-AC8B282912CE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87C361B-8EDA-9BE3-7F5B-16117F4EF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8C3259F-235C-8CC8-A5F7-C3EA3D2BE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6FB731-E8D1-44E1-BAAD-4373672DE334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9854537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BB5973A-9C16-04CA-A7A3-3D56890EA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4B098-1101-4D07-9551-05E0C316C29F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266E62E-492E-8445-E604-AD4BAA6FA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8D74602-211F-F7C4-62A9-5ED83A881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8BD07B-87DF-4465-B5DB-44244E5B45A8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6007592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0956" y="1087996"/>
            <a:ext cx="6800671" cy="5370013"/>
          </a:xfrm>
        </p:spPr>
        <p:txBody>
          <a:bodyPr/>
          <a:lstStyle>
            <a:lvl1pPr>
              <a:defRPr sz="3526"/>
            </a:lvl1pPr>
            <a:lvl2pPr>
              <a:defRPr sz="3085"/>
            </a:lvl2pPr>
            <a:lvl3pPr>
              <a:defRPr sz="2644"/>
            </a:lvl3pPr>
            <a:lvl4pPr>
              <a:defRPr sz="2204"/>
            </a:lvl4pPr>
            <a:lvl5pPr>
              <a:defRPr sz="2204"/>
            </a:lvl5pPr>
            <a:lvl6pPr>
              <a:defRPr sz="2204"/>
            </a:lvl6pPr>
            <a:lvl7pPr>
              <a:defRPr sz="2204"/>
            </a:lvl7pPr>
            <a:lvl8pPr>
              <a:defRPr sz="2204"/>
            </a:lvl8pPr>
            <a:lvl9pPr>
              <a:defRPr sz="2204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3FC685F-0C80-987A-1025-1196ADB81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4705F-8269-4077-99F6-DD560ED42D84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A340FF3-9741-7F68-016E-F0AF86F5C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56B60AE-2ED1-B3A3-5FDF-211EC04E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75AD5D-2D69-42A1-BB4C-ADB23D6930A1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3012846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0956" y="1087996"/>
            <a:ext cx="6800671" cy="5370013"/>
          </a:xfrm>
        </p:spPr>
        <p:txBody>
          <a:bodyPr rtlCol="0">
            <a:normAutofit/>
          </a:bodyPr>
          <a:lstStyle>
            <a:lvl1pPr marL="0" indent="0">
              <a:buNone/>
              <a:defRPr sz="3526"/>
            </a:lvl1pPr>
            <a:lvl2pPr marL="503743" indent="0">
              <a:buNone/>
              <a:defRPr sz="3085"/>
            </a:lvl2pPr>
            <a:lvl3pPr marL="1007486" indent="0">
              <a:buNone/>
              <a:defRPr sz="2644"/>
            </a:lvl3pPr>
            <a:lvl4pPr marL="1511229" indent="0">
              <a:buNone/>
              <a:defRPr sz="2204"/>
            </a:lvl4pPr>
            <a:lvl5pPr marL="2014972" indent="0">
              <a:buNone/>
              <a:defRPr sz="2204"/>
            </a:lvl5pPr>
            <a:lvl6pPr marL="2518715" indent="0">
              <a:buNone/>
              <a:defRPr sz="2204"/>
            </a:lvl6pPr>
            <a:lvl7pPr marL="3022458" indent="0">
              <a:buNone/>
              <a:defRPr sz="2204"/>
            </a:lvl7pPr>
            <a:lvl8pPr marL="3526201" indent="0">
              <a:buNone/>
              <a:defRPr sz="2204"/>
            </a:lvl8pPr>
            <a:lvl9pPr marL="4029944" indent="0">
              <a:buNone/>
              <a:defRPr sz="2204"/>
            </a:lvl9pPr>
          </a:lstStyle>
          <a:p>
            <a:pPr lvl="0"/>
            <a:r>
              <a:rPr lang="pl-PL" noProof="0"/>
              <a:t>Kliknij ikonę, aby dodać obraz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EEBB7DC-6B6A-7D41-126C-721EA5D59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13CC31-44CD-4076-BFD4-3C5551228B93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A73A5E0-529A-122D-E2A2-7E409A041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35BDAC7-E6A6-368F-B277-9B2A2B729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24B6B9-9F6E-48A9-BA97-0062BC12FD2B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2599380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8F6A5-B79A-45EF-F2F1-BA52C8F23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1D60F-D3E2-40A6-84E3-809B6D377A56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8D150-143F-496C-AAF8-D6B9AAD35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F0D43-3CB0-2E6A-50BA-141DBB222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035F42-D6CB-40A4-808A-180AC5333C07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7064804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3295" y="402314"/>
            <a:ext cx="2896582" cy="640378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548" y="402314"/>
            <a:ext cx="8521829" cy="640378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C6BAB-31EB-EBA6-C876-9889DC19A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1E0E41-713A-454D-A465-6898A7A1F28E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5272B-1192-4166-B6D8-2A2AF0100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4119C-5DBE-49FC-2D9E-E4760CEDC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636EA3-D916-4ACA-92ED-606ED94E6F2A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51337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45D76B9-7EC1-B2B8-9A82-E89C675D7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23925" y="401638"/>
            <a:ext cx="1158557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</a:t>
            </a:r>
            <a:endParaRPr lang="en-US" altLang="pl-PL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962D4D7-9996-8A27-DD16-ED187B438E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23925" y="2011363"/>
            <a:ext cx="11585575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  <a:endParaRPr lang="en-US" alt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57168-61D6-4E84-9C0E-4A05EC6BCF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3925" y="7004050"/>
            <a:ext cx="3022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45A9DDB-0DF9-44CE-A116-5550A4AE9504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0D538-83A0-4437-A536-685C9E4C26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763" y="7004050"/>
            <a:ext cx="45339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43C24-C8B3-4ABA-920F-D4F0DDE0D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86900" y="7004050"/>
            <a:ext cx="3022600" cy="401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rgbClr val="898989"/>
                </a:solidFill>
              </a:defRPr>
            </a:lvl1pPr>
          </a:lstStyle>
          <a:p>
            <a:fld id="{4B50922E-1CC8-4224-875C-D8881F7D2112}" type="slidenum">
              <a:rPr lang="en-US" altLang="pl-PL"/>
              <a:pPr/>
              <a:t>‹#›</a:t>
            </a:fld>
            <a:endParaRPr lang="en-US" alt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2pPr>
      <a:lvl3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3pPr>
      <a:lvl4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4pPr>
      <a:lvl5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50825" indent="-250825" algn="l" defTabSz="1006475" rtl="0" eaLnBrk="0" fontAlgn="base" hangingPunct="0">
        <a:lnSpc>
          <a:spcPct val="90000"/>
        </a:lnSpc>
        <a:spcBef>
          <a:spcPts val="11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540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2125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2653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770586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274329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778072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281815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43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486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229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4972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715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458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201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29944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36FFC0BD-8AD8-A31E-EE65-BAAE371FB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23925" y="401638"/>
            <a:ext cx="1158557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</a:t>
            </a:r>
            <a:endParaRPr lang="en-US" altLang="pl-PL"/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E76B553E-ECDC-651F-656E-CA1A25A05A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23925" y="2011363"/>
            <a:ext cx="11585575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  <a:endParaRPr lang="en-US" alt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FB7E0-0781-462B-9A95-24E36B4625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3925" y="7004050"/>
            <a:ext cx="3022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48109C-9B79-4458-9B2E-3FF7C9642EB7}" type="datetimeFigureOut">
              <a:rPr lang="en-US"/>
              <a:pPr>
                <a:defRPr/>
              </a:pPr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56C01-5EC7-4EAA-A377-AB9058CDD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763" y="7004050"/>
            <a:ext cx="45339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F1CB7-35F9-446B-909B-07AF10D1C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86900" y="7004050"/>
            <a:ext cx="3022600" cy="401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rgbClr val="898989"/>
                </a:solidFill>
              </a:defRPr>
            </a:lvl1pPr>
          </a:lstStyle>
          <a:p>
            <a:fld id="{C0A96596-B975-4225-A075-8814967B6AD1}" type="slidenum">
              <a:rPr lang="en-US" altLang="pl-PL"/>
              <a:pPr/>
              <a:t>‹#›</a:t>
            </a:fld>
            <a:endParaRPr lang="en-US" alt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2pPr>
      <a:lvl3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3pPr>
      <a:lvl4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4pPr>
      <a:lvl5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50825" indent="-250825" algn="l" defTabSz="1006475" rtl="0" eaLnBrk="0" fontAlgn="base" hangingPunct="0">
        <a:lnSpc>
          <a:spcPct val="90000"/>
        </a:lnSpc>
        <a:spcBef>
          <a:spcPts val="11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540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2125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2653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770586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274329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778072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281815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43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486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229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4972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715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458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201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29944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agh.edu.pl/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agh.edu.pl/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www.agh.edu.pl/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www.agh.edu.pl/" TargetMode="Externa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.agh.edu.pl/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c:/Users/MICROSOFT/AppData/Local/Programs/Microsoft%20VS%20Code/resources/app/out/vs/code/electron-browser/workbench/workbench.html" TargetMode="External"/><Relationship Id="rId2" Type="http://schemas.openxmlformats.org/officeDocument/2006/relationships/hyperlink" Target="http://www.agh.edu.pl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CFDE369E-C017-4759-A177-E011F571DC97}"/>
              </a:ext>
            </a:extLst>
          </p:cNvPr>
          <p:cNvSpPr>
            <a:spLocks/>
          </p:cNvSpPr>
          <p:nvPr/>
        </p:nvSpPr>
        <p:spPr bwMode="auto">
          <a:xfrm>
            <a:off x="3509963" y="1828800"/>
            <a:ext cx="630309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pl-PL" altLang="pl-PL" sz="2800" b="1" err="1">
                <a:latin typeface="Amasis MT Pro Black" panose="020F0502020204030204" pitchFamily="18" charset="-18"/>
              </a:rPr>
              <a:t>Airport</a:t>
            </a:r>
            <a:r>
              <a:rPr lang="pl-PL" altLang="pl-PL" sz="2800" b="1">
                <a:latin typeface="Amasis MT Pro Black" panose="020F0502020204030204" pitchFamily="18" charset="-18"/>
              </a:rPr>
              <a:t> </a:t>
            </a:r>
            <a:r>
              <a:rPr lang="pl-PL" altLang="pl-PL" sz="2800" b="1" err="1">
                <a:latin typeface="Amasis MT Pro Black" panose="020F0502020204030204" pitchFamily="18" charset="-18"/>
              </a:rPr>
              <a:t>type</a:t>
            </a:r>
            <a:r>
              <a:rPr lang="pl-PL" altLang="pl-PL" sz="2800" b="1">
                <a:latin typeface="Amasis MT Pro Black" panose="020F0502020204030204" pitchFamily="18" charset="-18"/>
              </a:rPr>
              <a:t> </a:t>
            </a:r>
            <a:r>
              <a:rPr lang="pl-PL" altLang="pl-PL" sz="2800" b="1" err="1">
                <a:latin typeface="Amasis MT Pro Black" panose="020F0502020204030204" pitchFamily="18" charset="-18"/>
              </a:rPr>
              <a:t>classification</a:t>
            </a:r>
            <a:r>
              <a:rPr lang="pl-PL" altLang="pl-PL" sz="2800" b="1">
                <a:latin typeface="Amasis MT Pro Black" panose="020F0502020204030204" pitchFamily="18" charset="-18"/>
              </a:rPr>
              <a:t> </a:t>
            </a:r>
            <a:r>
              <a:rPr lang="pl-PL" altLang="pl-PL" sz="2800" b="1" err="1">
                <a:latin typeface="Amasis MT Pro Black" panose="020F0502020204030204" pitchFamily="18" charset="-18"/>
              </a:rPr>
              <a:t>using</a:t>
            </a:r>
            <a:r>
              <a:rPr lang="pl-PL" altLang="pl-PL" sz="2800" b="1">
                <a:latin typeface="Amasis MT Pro Black" panose="020F0502020204030204" pitchFamily="18" charset="-18"/>
              </a:rPr>
              <a:t> </a:t>
            </a:r>
            <a:r>
              <a:rPr lang="pl-PL" altLang="pl-PL" sz="2800" b="1" err="1">
                <a:latin typeface="Amasis MT Pro Black" panose="020F0502020204030204" pitchFamily="18" charset="-18"/>
              </a:rPr>
              <a:t>Random</a:t>
            </a:r>
            <a:r>
              <a:rPr lang="pl-PL" altLang="pl-PL" sz="2800" b="1">
                <a:latin typeface="Amasis MT Pro Black" panose="020F0502020204030204" pitchFamily="18" charset="-18"/>
              </a:rPr>
              <a:t> </a:t>
            </a:r>
            <a:r>
              <a:rPr lang="pl-PL" altLang="pl-PL" sz="2800" b="1" err="1">
                <a:latin typeface="Amasis MT Pro Black" panose="020F0502020204030204" pitchFamily="18" charset="-18"/>
              </a:rPr>
              <a:t>Forest</a:t>
            </a:r>
            <a:r>
              <a:rPr lang="pl-PL" altLang="pl-PL" sz="2800" b="1">
                <a:latin typeface="Amasis MT Pro Black" panose="020F0502020204030204" pitchFamily="18" charset="-18"/>
              </a:rPr>
              <a:t> </a:t>
            </a:r>
            <a:r>
              <a:rPr lang="pl-PL" altLang="pl-PL" sz="2800" b="1" err="1">
                <a:latin typeface="Amasis MT Pro Black" panose="020F0502020204030204" pitchFamily="18" charset="-18"/>
              </a:rPr>
              <a:t>algorythm</a:t>
            </a:r>
            <a:endParaRPr lang="en-US" altLang="pl-PL" sz="2800" b="1">
              <a:latin typeface="Amasis MT Pro Black" panose="020F0502020204030204" pitchFamily="18" charset="-18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D6832F06-93D6-1578-D8A3-14FF0440F99F}"/>
              </a:ext>
            </a:extLst>
          </p:cNvPr>
          <p:cNvSpPr>
            <a:spLocks/>
          </p:cNvSpPr>
          <p:nvPr/>
        </p:nvSpPr>
        <p:spPr bwMode="auto">
          <a:xfrm>
            <a:off x="3508375" y="2782907"/>
            <a:ext cx="535608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pl-PL" altLang="pl-PL" sz="1600">
                <a:solidFill>
                  <a:srgbClr val="808080"/>
                </a:solidFill>
                <a:latin typeface="Amasis MT Pro Black" panose="02040A04050005020304" pitchFamily="18" charset="-18"/>
              </a:rPr>
              <a:t>Developer: Wojciech Domino, Tester: Mateusz Maj</a:t>
            </a:r>
            <a:endParaRPr lang="en-US" altLang="pl-PL" sz="1600">
              <a:solidFill>
                <a:srgbClr val="808080"/>
              </a:solidFill>
              <a:latin typeface="Amasis MT Pro Black" panose="02040A04050005020304" pitchFamily="18" charset="-18"/>
            </a:endParaRP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AAE9D9C8-C908-C5F2-7B78-49C683532CA4}"/>
              </a:ext>
            </a:extLst>
          </p:cNvPr>
          <p:cNvSpPr>
            <a:spLocks/>
          </p:cNvSpPr>
          <p:nvPr/>
        </p:nvSpPr>
        <p:spPr bwMode="auto">
          <a:xfrm>
            <a:off x="3508375" y="3121614"/>
            <a:ext cx="6173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n-US" altLang="pl-PL" sz="1200" err="1">
                <a:latin typeface="Amasis MT Pro Black" panose="02040A04050005020304" pitchFamily="18" charset="-18"/>
                <a:sym typeface="FagoNoBoldCE-Caps" charset="0"/>
              </a:rPr>
              <a:t>Akademia</a:t>
            </a:r>
            <a:r>
              <a:rPr lang="en-US" altLang="pl-PL" sz="1200">
                <a:latin typeface="Amasis MT Pro Black" panose="02040A04050005020304" pitchFamily="18" charset="-18"/>
                <a:sym typeface="FagoNoBoldCE-Caps" charset="0"/>
              </a:rPr>
              <a:t> </a:t>
            </a:r>
            <a:r>
              <a:rPr lang="en-US" altLang="pl-PL" sz="1200" err="1">
                <a:latin typeface="Amasis MT Pro Black" panose="02040A04050005020304" pitchFamily="18" charset="-18"/>
                <a:sym typeface="FagoNoBoldCE-Caps" charset="0"/>
              </a:rPr>
              <a:t>Górniczo</a:t>
            </a:r>
            <a:r>
              <a:rPr lang="en-US" altLang="pl-PL" sz="1200">
                <a:latin typeface="Amasis MT Pro Black" panose="02040A04050005020304" pitchFamily="18" charset="-18"/>
                <a:sym typeface="FagoNoBoldCE-Caps" charset="0"/>
              </a:rPr>
              <a:t>-Hu</a:t>
            </a:r>
            <a:r>
              <a:rPr lang="pl-PL" altLang="pl-PL" sz="1200">
                <a:latin typeface="Amasis MT Pro Black" panose="02040A04050005020304" pitchFamily="18" charset="-18"/>
                <a:sym typeface="FagoNoBoldCE-Caps" charset="0"/>
              </a:rPr>
              <a:t>t</a:t>
            </a:r>
            <a:r>
              <a:rPr lang="en-US" altLang="pl-PL" sz="1200" err="1">
                <a:latin typeface="Amasis MT Pro Black" panose="02040A04050005020304" pitchFamily="18" charset="-18"/>
                <a:sym typeface="FagoNoBoldCE-Caps" charset="0"/>
              </a:rPr>
              <a:t>nicza</a:t>
            </a:r>
            <a:r>
              <a:rPr lang="en-US" altLang="pl-PL" sz="1200">
                <a:latin typeface="Amasis MT Pro Black" panose="02040A04050005020304" pitchFamily="18" charset="-18"/>
                <a:sym typeface="FagoNoBoldCE-Caps" charset="0"/>
              </a:rPr>
              <a:t> </a:t>
            </a:r>
            <a:r>
              <a:rPr lang="en-US" altLang="pl-PL" sz="1200" err="1">
                <a:latin typeface="Amasis MT Pro Black" panose="02040A04050005020304" pitchFamily="18" charset="-18"/>
                <a:sym typeface="FagoNoBoldCE-Caps" charset="0"/>
              </a:rPr>
              <a:t>im</a:t>
            </a:r>
            <a:r>
              <a:rPr lang="en-US" altLang="pl-PL" sz="1200">
                <a:latin typeface="Amasis MT Pro Black" panose="02040A04050005020304" pitchFamily="18" charset="-18"/>
                <a:sym typeface="FagoNoBoldCE-Caps" charset="0"/>
              </a:rPr>
              <a:t>. Stanisława </a:t>
            </a:r>
            <a:r>
              <a:rPr lang="en-US" altLang="pl-PL" sz="1200" err="1">
                <a:latin typeface="Amasis MT Pro Black" panose="02040A04050005020304" pitchFamily="18" charset="-18"/>
                <a:sym typeface="FagoNoBoldCE-Caps" charset="0"/>
              </a:rPr>
              <a:t>Staszica</a:t>
            </a:r>
            <a:r>
              <a:rPr lang="en-US" altLang="pl-PL" sz="1200">
                <a:latin typeface="Amasis MT Pro Black" panose="02040A04050005020304" pitchFamily="18" charset="-18"/>
                <a:sym typeface="FagoNoBoldCE-Caps" charset="0"/>
              </a:rPr>
              <a:t> w </a:t>
            </a:r>
            <a:r>
              <a:rPr lang="en-US" altLang="pl-PL" sz="1200" err="1">
                <a:latin typeface="Amasis MT Pro Black" panose="02040A04050005020304" pitchFamily="18" charset="-18"/>
                <a:sym typeface="FagoNoBoldCE-Caps" charset="0"/>
              </a:rPr>
              <a:t>Krakowie</a:t>
            </a:r>
            <a:endParaRPr lang="en-US" altLang="pl-PL" sz="1200">
              <a:latin typeface="Amasis MT Pro Black" panose="02040A04050005020304" pitchFamily="18" charset="-18"/>
              <a:sym typeface="FagoNoBoldCE-Caps" charset="0"/>
            </a:endParaRPr>
          </a:p>
          <a:p>
            <a:pPr eaLnBrk="1"/>
            <a:r>
              <a:rPr lang="en-US" altLang="pl-PL" sz="1200">
                <a:solidFill>
                  <a:srgbClr val="808080"/>
                </a:solidFill>
                <a:latin typeface="Amasis MT Pro Black" panose="02040A04050005020304" pitchFamily="18" charset="-18"/>
                <a:sym typeface="FagoNoBoldCE-Caps" charset="0"/>
              </a:rPr>
              <a:t>AGH Uni</a:t>
            </a:r>
            <a:r>
              <a:rPr lang="pl-PL" altLang="pl-PL" sz="1200">
                <a:solidFill>
                  <a:srgbClr val="808080"/>
                </a:solidFill>
                <a:latin typeface="Amasis MT Pro Black" panose="02040A04050005020304" pitchFamily="18" charset="-18"/>
                <a:sym typeface="FagoNoBoldCE-Caps" charset="0"/>
              </a:rPr>
              <a:t>v</a:t>
            </a:r>
            <a:r>
              <a:rPr lang="en-US" altLang="pl-PL" sz="1200" err="1">
                <a:solidFill>
                  <a:srgbClr val="808080"/>
                </a:solidFill>
                <a:latin typeface="Amasis MT Pro Black" panose="02040A04050005020304" pitchFamily="18" charset="-18"/>
                <a:sym typeface="FagoNoBoldCE-Caps" charset="0"/>
              </a:rPr>
              <a:t>ersity</a:t>
            </a:r>
            <a:r>
              <a:rPr lang="en-US" altLang="pl-PL" sz="1200">
                <a:solidFill>
                  <a:srgbClr val="808080"/>
                </a:solidFill>
                <a:latin typeface="Amasis MT Pro Black" panose="02040A04050005020304" pitchFamily="18" charset="-18"/>
                <a:sym typeface="FagoNoBoldCE-Caps" charset="0"/>
              </a:rPr>
              <a:t> of </a:t>
            </a:r>
            <a:r>
              <a:rPr lang="pl-PL" altLang="pl-PL" sz="1200" err="1">
                <a:solidFill>
                  <a:srgbClr val="808080"/>
                </a:solidFill>
                <a:latin typeface="Amasis MT Pro Black" panose="02040A04050005020304" pitchFamily="18" charset="-18"/>
                <a:sym typeface="FagoNoBoldCE-Caps" charset="0"/>
              </a:rPr>
              <a:t>Krakow</a:t>
            </a:r>
            <a:endParaRPr lang="en-US" altLang="pl-PL" sz="1200">
              <a:solidFill>
                <a:srgbClr val="808080"/>
              </a:solidFill>
              <a:latin typeface="Amasis MT Pro Black" panose="02040A04050005020304" pitchFamily="18" charset="-18"/>
              <a:sym typeface="FagoNoBoldCE-Caps" charset="0"/>
            </a:endParaRPr>
          </a:p>
        </p:txBody>
      </p:sp>
      <p:pic>
        <p:nvPicPr>
          <p:cNvPr id="4102" name="Picture 6" descr="Random Forest Icons - Free SVG &amp; PNG Random Forest Images - Noun Project">
            <a:extLst>
              <a:ext uri="{FF2B5EF4-FFF2-40B4-BE49-F238E27FC236}">
                <a16:creationId xmlns:a16="http://schemas.microsoft.com/office/drawing/2014/main" id="{8920A0FC-1F59-B869-5403-C96F508C4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056" y="182822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Prostokąt 2">
            <a:hlinkClick r:id="rId2"/>
            <a:extLst>
              <a:ext uri="{FF2B5EF4-FFF2-40B4-BE49-F238E27FC236}">
                <a16:creationId xmlns:a16="http://schemas.microsoft.com/office/drawing/2014/main" id="{0D4790FE-7160-C4E7-6DB7-E3182B877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70183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endParaRPr lang="pl-PL" alt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9BBD6A-69AA-8804-99E8-66FC3A5A2549}"/>
              </a:ext>
            </a:extLst>
          </p:cNvPr>
          <p:cNvSpPr>
            <a:spLocks/>
          </p:cNvSpPr>
          <p:nvPr/>
        </p:nvSpPr>
        <p:spPr bwMode="auto">
          <a:xfrm>
            <a:off x="3565165" y="825922"/>
            <a:ext cx="63030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pl-PL" altLang="pl-PL" sz="2800" b="1">
                <a:latin typeface="Amasis MT Pro Black" panose="020F0502020204030204" pitchFamily="18" charset="-18"/>
              </a:rPr>
              <a:t>Goal of the project</a:t>
            </a:r>
            <a:endParaRPr lang="en-US" altLang="pl-PL" sz="2800" b="1">
              <a:latin typeface="Amasis MT Pro Black" panose="020F0502020204030204" pitchFamily="18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48114B8-0302-D813-EF2D-B3119552CE13}"/>
              </a:ext>
            </a:extLst>
          </p:cNvPr>
          <p:cNvSpPr txBox="1"/>
          <p:nvPr/>
        </p:nvSpPr>
        <p:spPr>
          <a:xfrm>
            <a:off x="1197322" y="1906042"/>
            <a:ext cx="67183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pl-PL" sz="16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Educational Goal</a:t>
            </a:r>
            <a:r>
              <a:rPr lang="pl-PL" sz="16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: Implement Random Forest algorithm from first principles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l-PL" sz="16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Understand CART (Classification and Regression Trees)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l-PL" sz="16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Master bootstrap sampling and ensemble methods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l-PL" sz="16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Learn Gini impurity and splitting criteria</a:t>
            </a:r>
          </a:p>
          <a:p>
            <a:pPr algn="l">
              <a:buFont typeface="+mj-lt"/>
              <a:buAutoNum type="arabicPeriod"/>
            </a:pPr>
            <a:r>
              <a:rPr lang="pl-PL" sz="16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Technical Challenge</a:t>
            </a:r>
            <a:r>
              <a:rPr lang="pl-PL" sz="16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: Classify airports into 3 categories (small/medium/large)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l-PL" sz="16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Using only geographic features (latitude, longitude, elevation)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l-PL" sz="16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Feature engineering to extract predictive patterns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l-PL" sz="16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Handle imbalanced dataset</a:t>
            </a:r>
          </a:p>
          <a:p>
            <a:pPr algn="l">
              <a:buFont typeface="+mj-lt"/>
              <a:buAutoNum type="arabicPeriod"/>
            </a:pPr>
            <a:r>
              <a:rPr lang="pl-PL" sz="16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Success Metrics</a:t>
            </a:r>
            <a:r>
              <a:rPr lang="pl-PL" sz="16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l-PL" sz="16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F1 Score ≥ 0.60 (80% better than random baseline of 0.33)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l-PL" sz="16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Custom implementation within 5% of sklearn performance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l-PL" sz="16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Predict all 3 classes (not just majority</a:t>
            </a:r>
            <a:r>
              <a:rPr lang="pl-PL" sz="1600">
                <a:solidFill>
                  <a:schemeClr val="tx1"/>
                </a:solidFill>
                <a:latin typeface="Amasis MT Pro" panose="02040504050005020304" pitchFamily="18" charset="-18"/>
              </a:rPr>
              <a:t>)</a:t>
            </a:r>
            <a:endParaRPr lang="pl-PL" sz="1600" b="0" i="0">
              <a:solidFill>
                <a:schemeClr val="tx1"/>
              </a:solidFill>
              <a:effectLst/>
              <a:latin typeface="Amasis MT Pro" panose="02040504050005020304" pitchFamily="18" charset="-18"/>
            </a:endParaRPr>
          </a:p>
        </p:txBody>
      </p:sp>
      <p:pic>
        <p:nvPicPr>
          <p:cNvPr id="8" name="Grafika 7" descr="Samolot z wypełnieniem pełnym">
            <a:extLst>
              <a:ext uri="{FF2B5EF4-FFF2-40B4-BE49-F238E27FC236}">
                <a16:creationId xmlns:a16="http://schemas.microsoft.com/office/drawing/2014/main" id="{834FFF06-AF3D-62A2-61AE-011173F18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56872" y="1762026"/>
            <a:ext cx="3888432" cy="388843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57F5E-5A74-952F-D3D6-071086E64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Prostokąt 2">
            <a:hlinkClick r:id="rId2"/>
            <a:extLst>
              <a:ext uri="{FF2B5EF4-FFF2-40B4-BE49-F238E27FC236}">
                <a16:creationId xmlns:a16="http://schemas.microsoft.com/office/drawing/2014/main" id="{D3281972-4DF6-2CFE-225C-0D574B5B8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70183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endParaRPr lang="pl-PL" alt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AB950C-1352-540A-6DF8-924B1161F674}"/>
              </a:ext>
            </a:extLst>
          </p:cNvPr>
          <p:cNvSpPr>
            <a:spLocks/>
          </p:cNvSpPr>
          <p:nvPr/>
        </p:nvSpPr>
        <p:spPr bwMode="auto">
          <a:xfrm>
            <a:off x="3565165" y="825922"/>
            <a:ext cx="63030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pl-PL" altLang="pl-PL" sz="2800" b="1">
                <a:latin typeface="Amasis MT Pro Black" panose="020F0502020204030204" pitchFamily="18" charset="-18"/>
              </a:rPr>
              <a:t>Problem statement</a:t>
            </a:r>
            <a:endParaRPr lang="en-US" altLang="pl-PL" sz="2800" b="1">
              <a:latin typeface="Amasis MT Pro Black" panose="020F0502020204030204" pitchFamily="18" charset="-18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69DC7AEC-5506-3268-8011-0ACBA71A7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050" y="2330214"/>
            <a:ext cx="5184576" cy="2896071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26D2809B-E663-D938-1F29-0C4459A15F2B}"/>
              </a:ext>
            </a:extLst>
          </p:cNvPr>
          <p:cNvSpPr txBox="1"/>
          <p:nvPr/>
        </p:nvSpPr>
        <p:spPr>
          <a:xfrm>
            <a:off x="668040" y="1462971"/>
            <a:ext cx="6716268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pl-PL" sz="1400" b="1">
                <a:solidFill>
                  <a:schemeClr val="tx1"/>
                </a:solidFill>
                <a:latin typeface="Amasis MT Pro" panose="02040504050005020304" pitchFamily="18" charset="-18"/>
              </a:rPr>
              <a:t>1. </a:t>
            </a:r>
            <a:r>
              <a:rPr lang="pl-PL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Classification Challenge: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Input</a:t>
            </a: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: Geographic data (latitude, longitude, elevation) + continent + scheduled service</a:t>
            </a:r>
            <a:endParaRPr lang="pl-PL" sz="1400">
              <a:solidFill>
                <a:schemeClr val="tx1"/>
              </a:solidFill>
              <a:latin typeface="Amasis MT Pro" panose="02040504050005020304" pitchFamily="18" charset="-18"/>
            </a:endParaRP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Output</a:t>
            </a: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: Airport category (small/medium/large)</a:t>
            </a:r>
            <a:endParaRPr lang="pl-PL" sz="1400">
              <a:solidFill>
                <a:schemeClr val="tx1"/>
              </a:solidFill>
              <a:latin typeface="Amasis MT Pro" panose="02040504050005020304" pitchFamily="18" charset="-18"/>
            </a:endParaRP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Dataset</a:t>
            </a: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: 84,000+ airports from OurAirports database</a:t>
            </a:r>
            <a:endParaRPr lang="pl-PL" sz="1400" b="1" i="0">
              <a:solidFill>
                <a:schemeClr val="tx1"/>
              </a:solidFill>
              <a:effectLst/>
              <a:latin typeface="Amasis MT Pro" panose="02040504050005020304" pitchFamily="18" charset="-18"/>
            </a:endParaRPr>
          </a:p>
          <a:p>
            <a:pPr>
              <a:spcAft>
                <a:spcPts val="600"/>
              </a:spcAft>
            </a:pPr>
            <a:r>
              <a:rPr lang="pl-PL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2. Why This Is Difficult:</a:t>
            </a:r>
            <a:br>
              <a:rPr lang="pl-PL" sz="1400">
                <a:solidFill>
                  <a:schemeClr val="tx1"/>
                </a:solidFill>
                <a:latin typeface="Amasis MT Pro" panose="02040504050005020304" pitchFamily="18" charset="-18"/>
              </a:rPr>
            </a:b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Airport size is primarily driven by </a:t>
            </a:r>
            <a:r>
              <a:rPr lang="pl-PL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economic factors</a:t>
            </a: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 (population, tourism, business), geography provides only </a:t>
            </a:r>
            <a:r>
              <a:rPr lang="pl-PL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indirect signals</a:t>
            </a:r>
            <a:r>
              <a:rPr lang="pl-PL" sz="1400">
                <a:solidFill>
                  <a:schemeClr val="tx1"/>
                </a:solidFill>
                <a:latin typeface="Amasis MT Pro" panose="02040504050005020304" pitchFamily="18" charset="-18"/>
              </a:rPr>
              <a:t>, h</a:t>
            </a: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ighly </a:t>
            </a:r>
            <a:r>
              <a:rPr lang="pl-PL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imbalanced dataset</a:t>
            </a: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:</a:t>
            </a:r>
          </a:p>
          <a:p>
            <a:pPr marL="742950" lvl="1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Small airports: 64,603 (77%)</a:t>
            </a:r>
          </a:p>
          <a:p>
            <a:pPr marL="742950" lvl="1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Medium airports: 4,535 (5%)</a:t>
            </a:r>
          </a:p>
          <a:p>
            <a:pPr marL="742950" lvl="1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Large airports: 486 (&lt;1%)</a:t>
            </a:r>
          </a:p>
          <a:p>
            <a:pPr algn="l">
              <a:spcAft>
                <a:spcPts val="600"/>
              </a:spcAft>
              <a:buNone/>
            </a:pPr>
            <a:r>
              <a:rPr lang="pl-PL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3. Technical Challenges:</a:t>
            </a:r>
            <a:endParaRPr lang="pl-PL" sz="1400" b="0" i="0">
              <a:solidFill>
                <a:schemeClr val="tx1"/>
              </a:solidFill>
              <a:effectLst/>
              <a:latin typeface="Amasis MT Pro" panose="02040504050005020304" pitchFamily="18" charset="-18"/>
            </a:endParaRP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Class imbalance → Need stratified sampling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Limited features </a:t>
            </a: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→ Extensive feature engineering required</a:t>
            </a:r>
          </a:p>
          <a:p>
            <a:pPr algn="l">
              <a:spcAft>
                <a:spcPts val="600"/>
              </a:spcAft>
              <a:buNone/>
            </a:pPr>
            <a:r>
              <a:rPr lang="pl-PL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4. Algorithm Choice:</a:t>
            </a:r>
            <a:br>
              <a:rPr lang="pl-PL" sz="1400">
                <a:solidFill>
                  <a:schemeClr val="tx1"/>
                </a:solidFill>
                <a:latin typeface="Amasis MT Pro" panose="02040504050005020304" pitchFamily="18" charset="-18"/>
              </a:rPr>
            </a:br>
            <a:r>
              <a:rPr lang="pl-PL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Random Forest</a:t>
            </a: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 ideal for:</a:t>
            </a:r>
          </a:p>
          <a:p>
            <a:pPr marL="742950" lvl="1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Non-linear geographic patterns</a:t>
            </a:r>
          </a:p>
          <a:p>
            <a:pPr marL="742950" lvl="1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Handling feature interactions</a:t>
            </a:r>
          </a:p>
          <a:p>
            <a:pPr marL="742950" lvl="1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Robust to outliers (elevation varies widely)</a:t>
            </a:r>
          </a:p>
          <a:p>
            <a:pPr marL="742950" lvl="1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Ensemble reduces overfitting</a:t>
            </a:r>
          </a:p>
        </p:txBody>
      </p:sp>
    </p:spTree>
    <p:extLst>
      <p:ext uri="{BB962C8B-B14F-4D97-AF65-F5344CB8AC3E}">
        <p14:creationId xmlns:p14="http://schemas.microsoft.com/office/powerpoint/2010/main" val="403936828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454D0-0A6F-9169-5669-B3B88E270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Prostokąt 2">
            <a:hlinkClick r:id="rId2"/>
            <a:extLst>
              <a:ext uri="{FF2B5EF4-FFF2-40B4-BE49-F238E27FC236}">
                <a16:creationId xmlns:a16="http://schemas.microsoft.com/office/drawing/2014/main" id="{1E84EA0E-256D-069E-B8DB-D91C407F0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70183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endParaRPr lang="pl-PL" alt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E7E3FB-B0A8-DA36-AE16-B342CB191772}"/>
              </a:ext>
            </a:extLst>
          </p:cNvPr>
          <p:cNvSpPr>
            <a:spLocks/>
          </p:cNvSpPr>
          <p:nvPr/>
        </p:nvSpPr>
        <p:spPr bwMode="auto">
          <a:xfrm>
            <a:off x="3565165" y="825922"/>
            <a:ext cx="63030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pl-PL" altLang="pl-PL" sz="2800" b="1">
                <a:latin typeface="Amasis MT Pro Black" panose="020F0502020204030204" pitchFamily="18" charset="-18"/>
              </a:rPr>
              <a:t>Method</a:t>
            </a:r>
            <a:endParaRPr lang="en-US" altLang="pl-PL" sz="2800" b="1">
              <a:latin typeface="Amasis MT Pro Black" panose="020F0502020204030204" pitchFamily="18" charset="-18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3433D26-660D-6F98-97F3-8612E5B3F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608" y="1729693"/>
            <a:ext cx="7334691" cy="40971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CD3686F-1CFB-6167-F39D-4253AB637CA2}"/>
                  </a:ext>
                </a:extLst>
              </p:cNvPr>
              <p:cNvSpPr txBox="1"/>
              <p:nvPr/>
            </p:nvSpPr>
            <p:spPr>
              <a:xfrm>
                <a:off x="209791" y="2047711"/>
                <a:ext cx="5573577" cy="3158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l-PL" sz="1400">
                    <a:latin typeface="Amasis MT Pro" panose="02040504050005020304" pitchFamily="18" charset="-18"/>
                  </a:rPr>
                  <a:t>The algorithm combines </a:t>
                </a:r>
                <a:r>
                  <a:rPr lang="pl-PL" sz="1400" b="1">
                    <a:latin typeface="Amasis MT Pro" panose="02040504050005020304" pitchFamily="18" charset="-18"/>
                  </a:rPr>
                  <a:t>100 decision trees</a:t>
                </a:r>
                <a:r>
                  <a:rPr lang="pl-PL" sz="1400">
                    <a:latin typeface="Amasis MT Pro" panose="02040504050005020304" pitchFamily="18" charset="-18"/>
                  </a:rPr>
                  <a:t> through </a:t>
                </a:r>
                <a:r>
                  <a:rPr lang="pl-PL" sz="1400" b="1">
                    <a:latin typeface="Amasis MT Pro" panose="02040504050005020304" pitchFamily="18" charset="-18"/>
                  </a:rPr>
                  <a:t>ensemble learning</a:t>
                </a:r>
                <a:r>
                  <a:rPr lang="pl-PL" sz="1400">
                    <a:latin typeface="Amasis MT Pro" panose="02040504050005020304" pitchFamily="18" charset="-18"/>
                  </a:rPr>
                  <a:t>. Each tree is trained on a </a:t>
                </a:r>
                <a:r>
                  <a:rPr lang="pl-PL" sz="1400" b="1">
                    <a:latin typeface="Amasis MT Pro" panose="02040504050005020304" pitchFamily="18" charset="-18"/>
                  </a:rPr>
                  <a:t>bootstrap sample</a:t>
                </a:r>
                <a:r>
                  <a:rPr lang="pl-PL" sz="1400">
                    <a:latin typeface="Amasis MT Pro" panose="02040504050005020304" pitchFamily="18" charset="-18"/>
                  </a:rPr>
                  <a:t> (random sample with replacement from original data). At every split, </a:t>
                </a:r>
                <a:r>
                  <a:rPr lang="pl-PL" sz="1400" b="1">
                    <a:latin typeface="Amasis MT Pro" panose="02040504050005020304" pitchFamily="18" charset="-18"/>
                  </a:rPr>
                  <a:t>√22 ≈ 5 features</a:t>
                </a:r>
                <a:r>
                  <a:rPr lang="pl-PL" sz="1400">
                    <a:latin typeface="Amasis MT Pro" panose="02040504050005020304" pitchFamily="18" charset="-18"/>
                  </a:rPr>
                  <a:t> are randomly selected to reduce correlation between trees. Final predictions use </a:t>
                </a:r>
                <a:r>
                  <a:rPr lang="pl-PL" sz="1400" b="1">
                    <a:latin typeface="Amasis MT Pro" panose="02040504050005020304" pitchFamily="18" charset="-18"/>
                  </a:rPr>
                  <a:t>majority voting</a:t>
                </a:r>
                <a:r>
                  <a:rPr lang="pl-PL" sz="1400">
                    <a:latin typeface="Amasis MT Pro" panose="02040504050005020304" pitchFamily="18" charset="-18"/>
                  </a:rPr>
                  <a:t> across all trees.</a:t>
                </a:r>
              </a:p>
              <a:p>
                <a:r>
                  <a:rPr lang="pl-PL" sz="1400">
                    <a:latin typeface="Amasis MT Pro" panose="02040504050005020304" pitchFamily="18" charset="-18"/>
                  </a:rPr>
                  <a:t>Decision trees use </a:t>
                </a:r>
                <a:r>
                  <a:rPr lang="pl-PL" sz="1400" b="1">
                    <a:latin typeface="Amasis MT Pro" panose="02040504050005020304" pitchFamily="18" charset="-18"/>
                  </a:rPr>
                  <a:t>CART algorithm</a:t>
                </a:r>
                <a:r>
                  <a:rPr lang="pl-PL" sz="1400">
                    <a:latin typeface="Amasis MT Pro" panose="02040504050005020304" pitchFamily="18" charset="-18"/>
                  </a:rPr>
                  <a:t> with </a:t>
                </a:r>
                <a:r>
                  <a:rPr lang="pl-PL" sz="1400" b="1">
                    <a:latin typeface="Amasis MT Pro" panose="02040504050005020304" pitchFamily="18" charset="-18"/>
                  </a:rPr>
                  <a:t>Gini impurity</a:t>
                </a:r>
                <a:r>
                  <a:rPr lang="pl-PL" sz="1400">
                    <a:latin typeface="Amasis MT Pro" panose="02040504050005020304" pitchFamily="18" charset="-18"/>
                  </a:rPr>
                  <a:t> as splitting criterion (</a:t>
                </a:r>
                <a14:m>
                  <m:oMath xmlns:m="http://schemas.openxmlformats.org/officeDocument/2006/math">
                    <m:r>
                      <a:rPr lang="pl-PL" sz="1400" i="1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pl-PL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1400">
                        <a:latin typeface="Cambria Math" panose="02040503050406030204" pitchFamily="18" charset="0"/>
                      </a:rPr>
                      <m:t>1</m:t>
                    </m:r>
                    <m:r>
                      <a:rPr lang="pl-PL" sz="140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ar-AE" sz="1400">
                    <a:latin typeface="Amasis MT Pro" panose="02040504050005020304" pitchFamily="18" charset="-18"/>
                  </a:rPr>
                  <a:t>). </a:t>
                </a:r>
                <a:r>
                  <a:rPr lang="pl-PL" sz="1400">
                    <a:latin typeface="Amasis MT Pro" panose="02040504050005020304" pitchFamily="18" charset="-18"/>
                  </a:rPr>
                  <a:t>Each node performs </a:t>
                </a:r>
                <a:r>
                  <a:rPr lang="pl-PL" sz="1400" b="1">
                    <a:latin typeface="Amasis MT Pro" panose="02040504050005020304" pitchFamily="18" charset="-18"/>
                  </a:rPr>
                  <a:t>binary splits</a:t>
                </a:r>
                <a:r>
                  <a:rPr lang="pl-PL" sz="1400">
                    <a:latin typeface="Amasis MT Pro" panose="02040504050005020304" pitchFamily="18" charset="-18"/>
                  </a:rPr>
                  <a:t> by finding the best feature and threshold. Trees grow up to </a:t>
                </a:r>
                <a:r>
                  <a:rPr lang="pl-PL" sz="1400" b="1">
                    <a:latin typeface="Amasis MT Pro" panose="02040504050005020304" pitchFamily="18" charset="-18"/>
                  </a:rPr>
                  <a:t>15 levels deep</a:t>
                </a:r>
                <a:r>
                  <a:rPr lang="pl-PL" sz="1400">
                    <a:latin typeface="Amasis MT Pro" panose="02040504050005020304" pitchFamily="18" charset="-18"/>
                  </a:rPr>
                  <a:t> with minimum 2 samples per split.</a:t>
                </a:r>
              </a:p>
              <a:p>
                <a:r>
                  <a:rPr lang="pl-PL" sz="1400">
                    <a:latin typeface="Amasis MT Pro" panose="02040504050005020304" pitchFamily="18" charset="-18"/>
                  </a:rPr>
                  <a:t>The model uses </a:t>
                </a:r>
                <a:r>
                  <a:rPr lang="pl-PL" sz="1400" b="1">
                    <a:latin typeface="Amasis MT Pro" panose="02040504050005020304" pitchFamily="18" charset="-18"/>
                  </a:rPr>
                  <a:t>stratified sampling</a:t>
                </a:r>
                <a:r>
                  <a:rPr lang="pl-PL" sz="1400">
                    <a:latin typeface="Amasis MT Pro" panose="02040504050005020304" pitchFamily="18" charset="-18"/>
                  </a:rPr>
                  <a:t> to balance classes (500 small, 500 medium, 486 large airports) and </a:t>
                </a:r>
                <a:r>
                  <a:rPr lang="pl-PL" sz="1400" b="1">
                    <a:latin typeface="Amasis MT Pro" panose="02040504050005020304" pitchFamily="18" charset="-18"/>
                  </a:rPr>
                  <a:t>22 engineered features</a:t>
                </a:r>
                <a:r>
                  <a:rPr lang="pl-PL" sz="1400">
                    <a:latin typeface="Amasis MT Pro" panose="02040504050005020304" pitchFamily="18" charset="-18"/>
                  </a:rPr>
                  <a:t> derived from geographic data. Custom implementation is benchmarked against </a:t>
                </a:r>
                <a:r>
                  <a:rPr lang="pl-PL" sz="1400" b="1">
                    <a:latin typeface="Amasis MT Pro" panose="02040504050005020304" pitchFamily="18" charset="-18"/>
                  </a:rPr>
                  <a:t>scikit-learn</a:t>
                </a:r>
                <a:r>
                  <a:rPr lang="pl-PL" sz="1400">
                    <a:latin typeface="Amasis MT Pro" panose="02040504050005020304" pitchFamily="18" charset="-18"/>
                  </a:rPr>
                  <a:t> to validate correctness, with target performance within </a:t>
                </a:r>
                <a:r>
                  <a:rPr lang="pl-PL" sz="1400" b="1">
                    <a:latin typeface="Amasis MT Pro" panose="02040504050005020304" pitchFamily="18" charset="-18"/>
                  </a:rPr>
                  <a:t>5% F1 score</a:t>
                </a:r>
                <a:r>
                  <a:rPr lang="pl-PL" sz="1400">
                    <a:latin typeface="Amasis MT Pro" panose="02040504050005020304" pitchFamily="18" charset="-18"/>
                  </a:rPr>
                  <a:t> difference.</a:t>
                </a: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CD3686F-1CFB-6167-F39D-4253AB637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91" y="2047711"/>
                <a:ext cx="5573577" cy="3158813"/>
              </a:xfrm>
              <a:prstGeom prst="rect">
                <a:avLst/>
              </a:prstGeom>
              <a:blipFill>
                <a:blip r:embed="rId4"/>
                <a:stretch>
                  <a:fillRect l="-328" t="-386" r="-109" b="-96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415508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B3F75-D776-95B2-E6C2-75A9B1FFD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Prostokąt 2">
            <a:hlinkClick r:id="rId2"/>
            <a:extLst>
              <a:ext uri="{FF2B5EF4-FFF2-40B4-BE49-F238E27FC236}">
                <a16:creationId xmlns:a16="http://schemas.microsoft.com/office/drawing/2014/main" id="{ADB0D057-58E8-3ED0-2D25-97AE590E5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70183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endParaRPr lang="pl-PL" alt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E96016-6B6D-6840-F0B1-B262ECE38EAD}"/>
              </a:ext>
            </a:extLst>
          </p:cNvPr>
          <p:cNvSpPr>
            <a:spLocks/>
          </p:cNvSpPr>
          <p:nvPr/>
        </p:nvSpPr>
        <p:spPr bwMode="auto">
          <a:xfrm>
            <a:off x="3565165" y="825922"/>
            <a:ext cx="63030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pl-PL" altLang="pl-PL" sz="2800" b="1">
                <a:latin typeface="Amasis MT Pro Black" panose="020F0502020204030204" pitchFamily="18" charset="-18"/>
              </a:rPr>
              <a:t>Results</a:t>
            </a:r>
            <a:endParaRPr lang="en-US" altLang="pl-PL" sz="2800" b="1">
              <a:latin typeface="Amasis MT Pro Black" panose="020F0502020204030204" pitchFamily="18" charset="-18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87A00160-80CA-FEF1-30B7-4AC01D1C3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768" y="2338090"/>
            <a:ext cx="5596880" cy="3126382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825AEE3C-49FD-16F6-2527-223D87ED4520}"/>
              </a:ext>
            </a:extLst>
          </p:cNvPr>
          <p:cNvSpPr txBox="1"/>
          <p:nvPr/>
        </p:nvSpPr>
        <p:spPr>
          <a:xfrm>
            <a:off x="594529" y="1349142"/>
            <a:ext cx="5789601" cy="5683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✓ </a:t>
            </a:r>
            <a:r>
              <a:rPr lang="en-US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Goal 1: F1 Score ≥ 0.60</a:t>
            </a:r>
            <a:endParaRPr lang="en-US" sz="1400" b="0" i="0">
              <a:solidFill>
                <a:schemeClr val="tx1"/>
              </a:solidFill>
              <a:effectLst/>
              <a:latin typeface="Amasis MT Pro" panose="02040504050005020304" pitchFamily="18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Custom Random Forest: </a:t>
            </a:r>
            <a:r>
              <a:rPr lang="en-US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F1 = 0.60-0.67</a:t>
            </a:r>
            <a:endParaRPr lang="en-US" sz="1400" b="0" i="0">
              <a:solidFill>
                <a:schemeClr val="tx1"/>
              </a:solidFill>
              <a:effectLst/>
              <a:latin typeface="Amasis MT Pro" panose="02040504050005020304" pitchFamily="18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Target met with margin</a:t>
            </a:r>
          </a:p>
          <a:p>
            <a:pPr algn="l">
              <a:spcAft>
                <a:spcPts val="0"/>
              </a:spcAft>
              <a:buNone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✓ </a:t>
            </a:r>
            <a:r>
              <a:rPr lang="en-US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Goal 2: All 3 Classes Predicted</a:t>
            </a:r>
            <a:endParaRPr lang="en-US" sz="1400" b="0" i="0">
              <a:solidFill>
                <a:schemeClr val="tx1"/>
              </a:solidFill>
              <a:effectLst/>
              <a:latin typeface="Amasis MT Pro" panose="02040504050005020304" pitchFamily="18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Large airports: Successfully classified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Medium airports: Successfully classified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Small airports: Successfully classified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No class ignored (common problem in imbalanced data)</a:t>
            </a:r>
          </a:p>
          <a:p>
            <a:pPr algn="l">
              <a:spcAft>
                <a:spcPts val="0"/>
              </a:spcAft>
              <a:buNone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✓ </a:t>
            </a:r>
            <a:r>
              <a:rPr lang="en-US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Goal 3: Beat Random Baseline (0.33)</a:t>
            </a:r>
            <a:endParaRPr lang="en-US" sz="1400" b="0" i="0">
              <a:solidFill>
                <a:schemeClr val="tx1"/>
              </a:solidFill>
              <a:effectLst/>
              <a:latin typeface="Amasis MT Pro" panose="02040504050005020304" pitchFamily="18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Performance: </a:t>
            </a:r>
            <a:r>
              <a:rPr lang="en-US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1.8-2.0x better than random</a:t>
            </a:r>
            <a:endParaRPr lang="en-US" sz="1400" b="0" i="0">
              <a:solidFill>
                <a:schemeClr val="tx1"/>
              </a:solidFill>
              <a:effectLst/>
              <a:latin typeface="Amasis MT Pro" panose="02040504050005020304" pitchFamily="18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From 33% → 60-67% F1 score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82-103% improvement</a:t>
            </a:r>
            <a:endParaRPr lang="en-US" sz="1400" b="0" i="0">
              <a:solidFill>
                <a:schemeClr val="tx1"/>
              </a:solidFill>
              <a:effectLst/>
              <a:latin typeface="Amasis MT Pro" panose="02040504050005020304" pitchFamily="18" charset="-18"/>
            </a:endParaRPr>
          </a:p>
          <a:p>
            <a:pPr algn="l">
              <a:spcAft>
                <a:spcPts val="0"/>
              </a:spcAft>
              <a:buNone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✓ </a:t>
            </a:r>
            <a:r>
              <a:rPr lang="en-US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Goal 4: Handle Class Imbalance</a:t>
            </a:r>
            <a:endParaRPr lang="en-US" sz="1400" b="0" i="0">
              <a:solidFill>
                <a:schemeClr val="tx1"/>
              </a:solidFill>
              <a:effectLst/>
              <a:latin typeface="Amasis MT Pro" panose="02040504050005020304" pitchFamily="18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Stratified sampling implemented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Balanced training set: 500/500/486 samples</a:t>
            </a:r>
          </a:p>
          <a:p>
            <a:pPr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Fair representation of all classes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Per-Class Performance:</a:t>
            </a:r>
            <a:endParaRPr lang="en-US" sz="1400" b="0" i="0">
              <a:solidFill>
                <a:schemeClr val="tx1"/>
              </a:solidFill>
              <a:effectLst/>
              <a:latin typeface="Amasis MT Pro" panose="02040504050005020304" pitchFamily="18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Small airports</a:t>
            </a: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: F1 = 0.69-0.71, Precision = 66%, Recall = 72-77%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Large airports</a:t>
            </a: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: F1 = 0.64, Precision = 60-61%, Recall = 67-68%</a:t>
            </a:r>
          </a:p>
          <a:p>
            <a:pPr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Medium airports</a:t>
            </a: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: F1 = 0.41-0.44, Precision = 49-51%, Recall = 35-40%</a:t>
            </a:r>
          </a:p>
          <a:p>
            <a:pPr algn="l">
              <a:spcAft>
                <a:spcPts val="0"/>
              </a:spcAft>
              <a:buNone/>
            </a:pPr>
            <a:r>
              <a:rPr lang="en-US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Key Insights:</a:t>
            </a:r>
            <a:endParaRPr lang="en-US" sz="1400" b="0" i="0">
              <a:solidFill>
                <a:schemeClr val="tx1"/>
              </a:solidFill>
              <a:effectLst/>
              <a:latin typeface="Amasis MT Pro" panose="02040504050005020304" pitchFamily="18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Medium class hardest (boundary between small/large)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Geographic features provide </a:t>
            </a:r>
            <a:r>
              <a:rPr lang="en-US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moderate predictive power</a:t>
            </a:r>
            <a:endParaRPr lang="en-US" sz="1400" b="0" i="0">
              <a:solidFill>
                <a:schemeClr val="tx1"/>
              </a:solidFill>
              <a:effectLst/>
              <a:latin typeface="Amasis MT Pro" panose="02040504050005020304" pitchFamily="18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Feature engineering essential (22 features from 3 basic)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All success criteria met</a:t>
            </a:r>
            <a:r>
              <a:rPr lang="en-US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 ✓</a:t>
            </a:r>
          </a:p>
        </p:txBody>
      </p:sp>
    </p:spTree>
    <p:extLst>
      <p:ext uri="{BB962C8B-B14F-4D97-AF65-F5344CB8AC3E}">
        <p14:creationId xmlns:p14="http://schemas.microsoft.com/office/powerpoint/2010/main" val="203799498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5AE32-0B59-67BC-0666-79AE1C2D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Prostokąt 2">
            <a:hlinkClick r:id="rId2"/>
            <a:extLst>
              <a:ext uri="{FF2B5EF4-FFF2-40B4-BE49-F238E27FC236}">
                <a16:creationId xmlns:a16="http://schemas.microsoft.com/office/drawing/2014/main" id="{25DAD32A-95CD-FB13-0D0B-B4C5A19F6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70183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endParaRPr lang="pl-PL" alt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038165-02E7-D952-75B0-378F4860022C}"/>
              </a:ext>
            </a:extLst>
          </p:cNvPr>
          <p:cNvSpPr>
            <a:spLocks/>
          </p:cNvSpPr>
          <p:nvPr/>
        </p:nvSpPr>
        <p:spPr bwMode="auto">
          <a:xfrm>
            <a:off x="3565165" y="825922"/>
            <a:ext cx="63030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pl-PL" altLang="pl-PL" sz="2800" b="1">
                <a:latin typeface="Amasis MT Pro Black" panose="020F0502020204030204" pitchFamily="18" charset="-18"/>
              </a:rPr>
              <a:t>Comparison with scikit-learn</a:t>
            </a:r>
            <a:endParaRPr lang="en-US" altLang="pl-PL" sz="2800" b="1">
              <a:latin typeface="Amasis MT Pro Black" panose="020F0502020204030204" pitchFamily="18" charset="-18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22C7675-C947-A821-8918-E43AB1F6A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40" y="1762026"/>
            <a:ext cx="6092372" cy="1588417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ADB6143F-38D3-BA7C-7678-4296553EEE9F}"/>
              </a:ext>
            </a:extLst>
          </p:cNvPr>
          <p:cNvSpPr txBox="1"/>
          <p:nvPr/>
        </p:nvSpPr>
        <p:spPr>
          <a:xfrm>
            <a:off x="524024" y="3350443"/>
            <a:ext cx="67162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pl-PL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Key Findings:</a:t>
            </a:r>
            <a:endParaRPr lang="pl-PL" sz="1400" b="0" i="0">
              <a:solidFill>
                <a:schemeClr val="tx1"/>
              </a:solidFill>
              <a:effectLst/>
              <a:latin typeface="Amasis MT Pro" panose="02040504050005020304" pitchFamily="18" charset="-18"/>
            </a:endParaRPr>
          </a:p>
          <a:p>
            <a:pPr algn="l">
              <a:spcAft>
                <a:spcPts val="0"/>
              </a:spcAft>
              <a:buNone/>
            </a:pP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✓ </a:t>
            </a:r>
            <a:r>
              <a:rPr lang="pl-PL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Custom implementation within 5% of sklearn</a:t>
            </a: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 (target achieved)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Performance gap: 1-5% depending on random seed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Both exceed F1 ≥ 0.60 threshold</a:t>
            </a:r>
          </a:p>
          <a:p>
            <a:pPr algn="l">
              <a:spcAft>
                <a:spcPts val="0"/>
              </a:spcAft>
              <a:buNone/>
            </a:pP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✓ </a:t>
            </a:r>
            <a:r>
              <a:rPr lang="pl-PL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Algorithm correctness validated</a:t>
            </a:r>
            <a:endParaRPr lang="pl-PL" sz="1400" b="0" i="0">
              <a:solidFill>
                <a:schemeClr val="tx1"/>
              </a:solidFill>
              <a:effectLst/>
              <a:latin typeface="Amasis MT Pro" panose="02040504050005020304" pitchFamily="18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Similar confusion matrices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Both predict all 3 classes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Comparable per-class performance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l-PL" sz="1400" b="0" i="0">
              <a:solidFill>
                <a:schemeClr val="tx1"/>
              </a:solidFill>
              <a:effectLst/>
              <a:latin typeface="Amasis MT Pro" panose="02040504050005020304" pitchFamily="18" charset="-18"/>
            </a:endParaRPr>
          </a:p>
          <a:p>
            <a:pPr algn="l">
              <a:spcAft>
                <a:spcPts val="1200"/>
              </a:spcAft>
              <a:buNone/>
            </a:pPr>
            <a:r>
              <a:rPr lang="pl-PL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Conclusion:</a:t>
            </a:r>
            <a:b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</a:b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Custom implementation </a:t>
            </a:r>
            <a:r>
              <a:rPr lang="pl-PL" sz="1400" b="1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successfully replicates</a:t>
            </a:r>
            <a:r>
              <a:rPr lang="pl-PL" sz="14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 core Random Forest behavior. Small performance gap is acceptable for educational implementation built from scratch in pure Python.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E55D7E34-93C1-14ED-0B17-C32CBA1C8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247" y="1935888"/>
            <a:ext cx="6596429" cy="368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106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8EF7-D439-AEB9-7633-295552200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Prostokąt 2">
            <a:hlinkClick r:id="rId2"/>
            <a:extLst>
              <a:ext uri="{FF2B5EF4-FFF2-40B4-BE49-F238E27FC236}">
                <a16:creationId xmlns:a16="http://schemas.microsoft.com/office/drawing/2014/main" id="{3F5C49E7-E8EF-0389-A684-8F1EEAD34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70183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endParaRPr lang="pl-PL" alt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D7AA71-6F25-EF35-96B8-0499F8445804}"/>
              </a:ext>
            </a:extLst>
          </p:cNvPr>
          <p:cNvSpPr>
            <a:spLocks/>
          </p:cNvSpPr>
          <p:nvPr/>
        </p:nvSpPr>
        <p:spPr bwMode="auto">
          <a:xfrm>
            <a:off x="3565165" y="825922"/>
            <a:ext cx="63030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pl-PL" altLang="pl-PL" sz="2800" b="1">
                <a:latin typeface="Amasis MT Pro Black" panose="020F0502020204030204" pitchFamily="18" charset="-18"/>
              </a:rPr>
              <a:t>Sources</a:t>
            </a:r>
            <a:endParaRPr lang="en-US" altLang="pl-PL" sz="2800" b="1">
              <a:latin typeface="Amasis MT Pro Black" panose="020F0502020204030204" pitchFamily="18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6EFF373-AFB9-AD79-249E-F99C6D95969D}"/>
              </a:ext>
            </a:extLst>
          </p:cNvPr>
          <p:cNvSpPr txBox="1"/>
          <p:nvPr/>
        </p:nvSpPr>
        <p:spPr>
          <a:xfrm>
            <a:off x="884063" y="1473994"/>
            <a:ext cx="116652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Breiman, L. (2001). "Random Forests". </a:t>
            </a:r>
            <a:r>
              <a:rPr lang="en-US" sz="1800" b="0" i="1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Machine Learning</a:t>
            </a:r>
            <a:r>
              <a:rPr lang="en-US" sz="18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, 45(1), 5-32.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Hastie, T., Tibshirani, R., &amp; Friedman, J. (2009). "The Elements of Statistical Learning" (Chapter 15: Random Forests)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>
                <a:solidFill>
                  <a:schemeClr val="tx1"/>
                </a:solidFill>
                <a:effectLst/>
                <a:latin typeface="Amasis MT Pro" panose="02040504050005020304" pitchFamily="18" charset="-18"/>
              </a:rPr>
              <a:t>Breiman, L., et al. (1984). "Classification and Regression Trees (CART)„</a:t>
            </a:r>
            <a:endParaRPr lang="pl-PL" sz="1800">
              <a:solidFill>
                <a:schemeClr val="tx1"/>
              </a:solidFill>
              <a:latin typeface="Amasis MT Pro" panose="02040504050005020304" pitchFamily="18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  <a:latin typeface="Amasis MT Pro" panose="02040504050005020304" pitchFamily="18" charset="-18"/>
              </a:rPr>
              <a:t>scikit-learn documentation: </a:t>
            </a:r>
            <a:r>
              <a:rPr lang="en-US" sz="1800">
                <a:solidFill>
                  <a:schemeClr val="tx1"/>
                </a:solidFill>
                <a:latin typeface="Amasis MT Pro" panose="02040504050005020304" pitchFamily="18" charset="-1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https://scikit-learn.org/stable/modules/ensemble.html#forest</a:t>
            </a:r>
            <a:endParaRPr lang="pl-PL" sz="1800">
              <a:solidFill>
                <a:schemeClr val="tx1"/>
              </a:solidFill>
              <a:latin typeface="Amasis MT Pro" panose="02040504050005020304" pitchFamily="18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  <a:latin typeface="Amasis MT Pro" panose="02040504050005020304" pitchFamily="18" charset="-18"/>
              </a:rPr>
              <a:t>Python documentation: </a:t>
            </a:r>
            <a:r>
              <a:rPr lang="en-US" sz="1800">
                <a:solidFill>
                  <a:schemeClr val="tx1"/>
                </a:solidFill>
                <a:latin typeface="Amasis MT Pro" panose="02040504050005020304" pitchFamily="18" charset="-1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</a:t>
            </a:r>
            <a:endParaRPr lang="en-US" sz="1800">
              <a:solidFill>
                <a:schemeClr val="tx1"/>
              </a:solidFill>
              <a:latin typeface="Amasis MT Pro" panose="02040504050005020304" pitchFamily="18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423877047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Blank Presentation - Default">
  <a:themeElements>
    <a:clrScheme name="Motyw pakietu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 Presentation">
  <a:themeElements>
    <a:clrScheme name="Motyw pakietu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781</Words>
  <Application>Microsoft Office PowerPoint</Application>
  <PresentationFormat>Niestandardowy</PresentationFormat>
  <Paragraphs>81</Paragraphs>
  <Slides>7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2</vt:i4>
      </vt:variant>
      <vt:variant>
        <vt:lpstr>Tytuły slajdów</vt:lpstr>
      </vt:variant>
      <vt:variant>
        <vt:i4>7</vt:i4>
      </vt:variant>
    </vt:vector>
  </HeadingPairs>
  <TitlesOfParts>
    <vt:vector size="16" baseType="lpstr">
      <vt:lpstr>Amasis MT Pro</vt:lpstr>
      <vt:lpstr>Amasis MT Pro Black</vt:lpstr>
      <vt:lpstr>Arial</vt:lpstr>
      <vt:lpstr>Calibri</vt:lpstr>
      <vt:lpstr>Calibri Light</vt:lpstr>
      <vt:lpstr>Cambria Math</vt:lpstr>
      <vt:lpstr>Helvetica Neue</vt:lpstr>
      <vt:lpstr>Blank Presentation - Default</vt:lpstr>
      <vt:lpstr>Blank Presentation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Maciek</dc:creator>
  <cp:lastModifiedBy>Wojciech Domino</cp:lastModifiedBy>
  <cp:revision>14</cp:revision>
  <dcterms:modified xsi:type="dcterms:W3CDTF">2025-12-05T16:45:36Z</dcterms:modified>
</cp:coreProperties>
</file>